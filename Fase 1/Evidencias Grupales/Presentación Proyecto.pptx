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ALFbS77tw5Wqhds2Bhb8BDSoj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908FB9-4A4F-4C6D-B925-18C860E2C750}">
  <a:tblStyle styleId="{50908FB9-4A4F-4C6D-B925-18C860E2C7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de la definición del proyecto. Duración estimada del bloque: 15 minutos más preguntas.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capturas corresponden al flujo real de práctica: se responde la pregunta con cronómetro y se recibe el resultado con la alternativa correcta, la explicación breve, la recompensa y el percentil frente a la cohorte.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flujo de datos va de la interfaz al proveedor de estado, de ahí al repositorio y al cliente HTTP. La interfaz nunca habla directamente con la red. Cada lectura se escribe en la caché local para poder servirla ante fallo de red.</a:t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a691bef0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a691bef0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a691bef0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Preparados para responder: por qué XP y no Mobile D; cómo se controla el avance sin sprints; quién prioriza sin Product Owner; cuántas horas requiere un prototipo funcional; y qué pasa si cambia el entorno legal de datos personales.</a:t>
            </a:r>
            <a:endParaRPr/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8" y="685800"/>
            <a:ext cx="2286000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914400" y="1508760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914400" y="1810512"/>
            <a:ext cx="10360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914400" y="2514600"/>
            <a:ext cx="10360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Definición del Proyecto APT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Módulo de Preguntas </a:t>
            </a: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-US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App móvil Aprueba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297680" y="3794760"/>
            <a:ext cx="3593592" cy="0"/>
          </a:xfrm>
          <a:prstGeom prst="straightConnector1">
            <a:avLst/>
          </a:prstGeom>
          <a:noFill/>
          <a:ln cap="flat" cmpd="sng" w="3175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 txBox="1"/>
          <p:nvPr/>
        </p:nvSpPr>
        <p:spPr>
          <a:xfrm>
            <a:off x="914400" y="3977640"/>
            <a:ext cx="10360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Empresa contraparte: Alloxentric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Sumativa Fase 1 · PTY4614 Capstone · Sección CAPSTONE_002D · Grupo 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Martin Espinoza Morales · Sebastián Acevedo Araya · Jeremías Fernández Millacura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Profesora guía: Eliana Mallen González    |    Sede San Bernardo    |    10 de septiembre de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sng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Contenidos</a:t>
            </a:r>
            <a:endParaRPr b="0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77240" y="1508760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" name="Google Shape;33;p2"/>
          <p:cNvSpPr txBox="1"/>
          <p:nvPr/>
        </p:nvSpPr>
        <p:spPr>
          <a:xfrm>
            <a:off x="941832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463040" y="17099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problema y la oportunidad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" y="2624328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" name="Google Shape;36;p2"/>
          <p:cNvSpPr txBox="1"/>
          <p:nvPr/>
        </p:nvSpPr>
        <p:spPr>
          <a:xfrm>
            <a:off x="941832" y="28254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463040" y="282549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proyecto: qué construimos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3739896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" name="Google Shape;39;p2"/>
          <p:cNvSpPr txBox="1"/>
          <p:nvPr/>
        </p:nvSpPr>
        <p:spPr>
          <a:xfrm>
            <a:off x="941832" y="3941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463040" y="39410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Objetivos y alcance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" y="4855464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" name="Google Shape;42;p2"/>
          <p:cNvSpPr txBox="1"/>
          <p:nvPr/>
        </p:nvSpPr>
        <p:spPr>
          <a:xfrm>
            <a:off x="941832" y="5056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463040" y="505663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Arquitectura y tecnologías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355080" y="1508760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5" name="Google Shape;45;p2"/>
          <p:cNvSpPr txBox="1"/>
          <p:nvPr/>
        </p:nvSpPr>
        <p:spPr>
          <a:xfrm>
            <a:off x="6519672" y="1709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040880" y="17099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Metodología: por qué Extreme Programming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355080" y="2624328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8" name="Google Shape;48;p2"/>
          <p:cNvSpPr txBox="1"/>
          <p:nvPr/>
        </p:nvSpPr>
        <p:spPr>
          <a:xfrm>
            <a:off x="6519672" y="28254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7040880" y="282549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 de trabajo y cronograma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55080" y="3739896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1" name="Google Shape;51;p2"/>
          <p:cNvSpPr txBox="1"/>
          <p:nvPr/>
        </p:nvSpPr>
        <p:spPr>
          <a:xfrm>
            <a:off x="6519672" y="3941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7040880" y="39410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Factibilidad y riesgos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355080" y="4855464"/>
            <a:ext cx="5029200" cy="868680"/>
          </a:xfrm>
          <a:prstGeom prst="roundRect">
            <a:avLst>
              <a:gd fmla="val 8421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4" name="Google Shape;54;p2"/>
          <p:cNvSpPr txBox="1"/>
          <p:nvPr/>
        </p:nvSpPr>
        <p:spPr>
          <a:xfrm>
            <a:off x="6519672" y="5056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040880" y="505663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 app de Aprueba no tiene su módulo de preguntas, que es su núcleo funcional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77240" y="1508760"/>
            <a:ext cx="3291840" cy="1691640"/>
          </a:xfrm>
          <a:prstGeom prst="roundRect">
            <a:avLst>
              <a:gd fmla="val 432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6" name="Google Shape;66;p3"/>
          <p:cNvSpPr txBox="1"/>
          <p:nvPr/>
        </p:nvSpPr>
        <p:spPr>
          <a:xfrm>
            <a:off x="960120" y="166420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200"/>
              <a:buFont typeface="Calibri"/>
              <a:buNone/>
            </a:pPr>
            <a:r>
              <a:rPr b="1" i="0" lang="en-US" sz="35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300.623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960120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personas inscritas en la PAES Regular 2025, la cifra más alta registrada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389120" y="1508760"/>
            <a:ext cx="3291840" cy="1691640"/>
          </a:xfrm>
          <a:prstGeom prst="roundRect">
            <a:avLst>
              <a:gd fmla="val 432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3"/>
          <p:cNvSpPr txBox="1"/>
          <p:nvPr/>
        </p:nvSpPr>
        <p:spPr>
          <a:xfrm>
            <a:off x="4572000" y="166420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3200"/>
              <a:buFont typeface="Calibri"/>
              <a:buNone/>
            </a:pPr>
            <a:r>
              <a:rPr b="1" i="0" lang="en-US" sz="35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4572000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recibe hoy la empresa: sin módulo no hay conversión de usuario gratuito a suscriptor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01000" y="1508760"/>
            <a:ext cx="3291840" cy="1691640"/>
          </a:xfrm>
          <a:prstGeom prst="roundRect">
            <a:avLst>
              <a:gd fmla="val 432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3"/>
          <p:cNvSpPr txBox="1"/>
          <p:nvPr/>
        </p:nvSpPr>
        <p:spPr>
          <a:xfrm>
            <a:off x="8183880" y="166420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libri"/>
              <a:buNone/>
            </a:pPr>
            <a:r>
              <a:rPr b="1" i="0" lang="en-US" sz="35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183880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caras del problema: sin retroalimentación, sin cuota, sin corrección del banco, sin uso offline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777240" y="34747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Cadena de causa y consecuencia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3"/>
          <p:cNvGraphicFramePr/>
          <p:nvPr/>
        </p:nvGraphicFramePr>
        <p:xfrm>
          <a:off x="777240" y="3840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{50908FB9-4A4F-4C6D-B925-18C860E2C750}</a:tableStyleId>
              </a:tblPr>
              <a:tblGrid>
                <a:gridCol w="3200400"/>
                <a:gridCol w="4206250"/>
                <a:gridCol w="320040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Problema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Causa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Consecuencia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estudiante no entiende por qué se equivocó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existe flujo cliente que consuma los servicios de explicación y habilidad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Percibe poco valor y abandona la aplicación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hay control de acceso al contenido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cuota escalonada y las recompensas están especificadas pero no implementadas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activa el modelo freemium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banco de preguntas no se corrige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Falta el canal por el que los estudiantes reporten errores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deteriora la confianza en el producto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puede practicar sin conexión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capa de sincronización local no está construida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excluye al segmento con mayor brecha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Módulo de preguntas de la app móvil, construido de punta a punta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pp_1.png" id="85" name="Google Shape;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949" y="1481325"/>
            <a:ext cx="2376276" cy="4491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app_0.png" id="86" name="Google Shape;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1630" y="1481325"/>
            <a:ext cx="1969807" cy="449199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/>
        </p:nvSpPr>
        <p:spPr>
          <a:xfrm>
            <a:off x="513949" y="6035852"/>
            <a:ext cx="2376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4"/>
              <a:buFont typeface="Calibri"/>
              <a:buNone/>
            </a:pPr>
            <a:r>
              <a:rPr b="0" i="0" lang="en-US" sz="1596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Pantalla Pregunta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171630" y="6035852"/>
            <a:ext cx="19698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4"/>
              <a:buFont typeface="Calibri"/>
              <a:buNone/>
            </a:pPr>
            <a:r>
              <a:rPr b="0" i="0" lang="en-US" sz="1596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Pantalla Resultado</a:t>
            </a:r>
            <a:endParaRPr b="0" i="0" sz="15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257800" y="1481328"/>
            <a:ext cx="6172200" cy="713232"/>
          </a:xfrm>
          <a:prstGeom prst="roundRect">
            <a:avLst>
              <a:gd fmla="val 897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0" name="Google Shape;90;p4"/>
          <p:cNvSpPr txBox="1"/>
          <p:nvPr/>
        </p:nvSpPr>
        <p:spPr>
          <a:xfrm>
            <a:off x="5440680" y="1554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6 pantallas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422830" y="1911106"/>
            <a:ext cx="580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Pregunta, Resultado, Explicación detallada, Habilidad, Recorrección y Desbloqueo de cuota.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257800" y="2304288"/>
            <a:ext cx="6172200" cy="713232"/>
          </a:xfrm>
          <a:prstGeom prst="roundRect">
            <a:avLst>
              <a:gd fmla="val 897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3" name="Google Shape;93;p4"/>
          <p:cNvSpPr txBox="1"/>
          <p:nvPr/>
        </p:nvSpPr>
        <p:spPr>
          <a:xfrm>
            <a:off x="544068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13 servicios REST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422825" y="2702002"/>
            <a:ext cx="5806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Práctica, cuota, recorrección y configuración, con su lógica de negocio.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257800" y="3127248"/>
            <a:ext cx="6172200" cy="713232"/>
          </a:xfrm>
          <a:prstGeom prst="roundRect">
            <a:avLst>
              <a:gd fmla="val 897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6" name="Google Shape;96;p4"/>
          <p:cNvSpPr txBox="1"/>
          <p:nvPr/>
        </p:nvSpPr>
        <p:spPr>
          <a:xfrm>
            <a:off x="5440680" y="3200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Reglas propias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5422830" y="3557014"/>
            <a:ext cx="580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Cuota diaria escalonada de 10 a 20 preguntas, recompensas y percentil de cohorte.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257800" y="3950208"/>
            <a:ext cx="6172200" cy="713232"/>
          </a:xfrm>
          <a:prstGeom prst="roundRect">
            <a:avLst>
              <a:gd fmla="val 897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9" name="Google Shape;99;p4"/>
          <p:cNvSpPr txBox="1"/>
          <p:nvPr/>
        </p:nvSpPr>
        <p:spPr>
          <a:xfrm>
            <a:off x="5440680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Integridad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5422825" y="4453194"/>
            <a:ext cx="580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 respuesta correcta nunca viaja al cliente antes de que el estudiante responda.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257800" y="4773168"/>
            <a:ext cx="6172200" cy="713232"/>
          </a:xfrm>
          <a:prstGeom prst="roundRect">
            <a:avLst>
              <a:gd fmla="val 8974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2" name="Google Shape;102;p4"/>
          <p:cNvSpPr txBox="1"/>
          <p:nvPr/>
        </p:nvSpPr>
        <p:spPr>
          <a:xfrm>
            <a:off x="5440680" y="4846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Sin conexión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422830" y="5202971"/>
            <a:ext cx="580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Caché local que sirve la última copia descargada ante fallo de red.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7365" y="1032700"/>
            <a:ext cx="10607100" cy="1143000"/>
          </a:xfrm>
          <a:prstGeom prst="roundRect">
            <a:avLst>
              <a:gd fmla="val 6400" name="adj"/>
            </a:avLst>
          </a:prstGeom>
          <a:solidFill>
            <a:srgbClr val="EAF1FA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965965" y="11698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65965" y="1444180"/>
            <a:ext cx="10149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Desarrollar el módulo de preguntas de la aplicación móvil Aprueba, comprendiendo el cliente Flutter y los servicios de backend que lo alimentan, de modo que el estudiante pueda practicar reactivos de la PAES con retroalimentación inmediata, seguimiento de su dominio por habilidad, canal de recorrección y gestión de cuota diaria.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828800" y="2410150"/>
            <a:ext cx="691800" cy="4092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66"/>
              <a:buFont typeface="Calibri"/>
              <a:buNone/>
            </a:pPr>
            <a:r>
              <a:rPr b="1" i="0" lang="en-US" sz="1566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OE1</a:t>
            </a:r>
            <a:endParaRPr b="0" i="0" sz="1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566733" y="2410150"/>
            <a:ext cx="9777600" cy="5625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5"/>
              <a:buFont typeface="Calibri"/>
              <a:buNone/>
            </a:pPr>
            <a:r>
              <a:rPr b="0" i="0" lang="en-US" sz="1555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Especificar los requerimientos funcionales y no funcionales a partir del contrato de servicios y las reglas de negocio.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828800" y="3054698"/>
            <a:ext cx="10515600" cy="0"/>
          </a:xfrm>
          <a:prstGeom prst="straightConnector1">
            <a:avLst/>
          </a:prstGeom>
          <a:noFill/>
          <a:ln cap="flat" cmpd="sng" w="106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</p:cxnSp>
      <p:sp>
        <p:nvSpPr>
          <p:cNvPr id="118" name="Google Shape;118;p5"/>
          <p:cNvSpPr txBox="1"/>
          <p:nvPr/>
        </p:nvSpPr>
        <p:spPr>
          <a:xfrm>
            <a:off x="828800" y="3208162"/>
            <a:ext cx="691800" cy="4092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66"/>
              <a:buFont typeface="Calibri"/>
              <a:buNone/>
            </a:pPr>
            <a:r>
              <a:rPr b="1" i="0" lang="en-US" sz="1566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OE2</a:t>
            </a:r>
            <a:endParaRPr b="0" i="0" sz="1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1566733" y="3208162"/>
            <a:ext cx="9777600" cy="5625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5"/>
              <a:buFont typeface="Calibri"/>
              <a:buNone/>
            </a:pPr>
            <a:r>
              <a:rPr b="0" i="0" lang="en-US" sz="1555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Diseñar el modelo de datos del módulo y su correspondencia con la caché local.</a:t>
            </a:r>
            <a:endParaRPr b="0" i="0" sz="15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5"/>
          <p:cNvCxnSpPr/>
          <p:nvPr/>
        </p:nvCxnSpPr>
        <p:spPr>
          <a:xfrm>
            <a:off x="828800" y="3852711"/>
            <a:ext cx="10515600" cy="0"/>
          </a:xfrm>
          <a:prstGeom prst="straightConnector1">
            <a:avLst/>
          </a:prstGeom>
          <a:noFill/>
          <a:ln cap="flat" cmpd="sng" w="106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</p:cxnSp>
      <p:sp>
        <p:nvSpPr>
          <p:cNvPr id="121" name="Google Shape;121;p5"/>
          <p:cNvSpPr txBox="1"/>
          <p:nvPr/>
        </p:nvSpPr>
        <p:spPr>
          <a:xfrm>
            <a:off x="828800" y="4006175"/>
            <a:ext cx="691800" cy="4092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66"/>
              <a:buFont typeface="Calibri"/>
              <a:buNone/>
            </a:pPr>
            <a:r>
              <a:rPr b="1" i="0" lang="en-US" sz="1566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OE3</a:t>
            </a:r>
            <a:endParaRPr b="0" i="0" sz="1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566733" y="4006175"/>
            <a:ext cx="9777600" cy="5625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5"/>
              <a:buFont typeface="Calibri"/>
              <a:buNone/>
            </a:pPr>
            <a:r>
              <a:rPr b="0" i="0" lang="en-US" sz="1455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Implementar las seis pantallas en Flutter sobre la arquitectura definida para el producto.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828800" y="4650723"/>
            <a:ext cx="10515600" cy="0"/>
          </a:xfrm>
          <a:prstGeom prst="straightConnector1">
            <a:avLst/>
          </a:prstGeom>
          <a:noFill/>
          <a:ln cap="flat" cmpd="sng" w="106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</p:cxnSp>
      <p:sp>
        <p:nvSpPr>
          <p:cNvPr id="124" name="Google Shape;124;p5"/>
          <p:cNvSpPr txBox="1"/>
          <p:nvPr/>
        </p:nvSpPr>
        <p:spPr>
          <a:xfrm>
            <a:off x="828800" y="4804187"/>
            <a:ext cx="691800" cy="4092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66"/>
              <a:buFont typeface="Calibri"/>
              <a:buNone/>
            </a:pPr>
            <a:r>
              <a:rPr b="1" i="0" lang="en-US" sz="1566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OE4</a:t>
            </a:r>
            <a:endParaRPr b="0" i="0" sz="1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1566733" y="4804187"/>
            <a:ext cx="9777600" cy="5625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5"/>
              <a:buFont typeface="Calibri"/>
              <a:buNone/>
            </a:pPr>
            <a:r>
              <a:rPr b="0" i="0" lang="en-US" sz="1455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Implementar los trece servicios REST con la lógica de cuota, recompensas y recorrección.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828800" y="5448736"/>
            <a:ext cx="10515600" cy="0"/>
          </a:xfrm>
          <a:prstGeom prst="straightConnector1">
            <a:avLst/>
          </a:prstGeom>
          <a:noFill/>
          <a:ln cap="flat" cmpd="sng" w="106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</p:cxnSp>
      <p:sp>
        <p:nvSpPr>
          <p:cNvPr id="127" name="Google Shape;127;p5"/>
          <p:cNvSpPr txBox="1"/>
          <p:nvPr/>
        </p:nvSpPr>
        <p:spPr>
          <a:xfrm>
            <a:off x="828800" y="5602199"/>
            <a:ext cx="691800" cy="4092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66"/>
              <a:buFont typeface="Calibri"/>
              <a:buNone/>
            </a:pPr>
            <a:r>
              <a:rPr b="1" i="0" lang="en-US" sz="1566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OE5</a:t>
            </a:r>
            <a:endParaRPr b="0" i="0" sz="1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566733" y="5602199"/>
            <a:ext cx="9777600" cy="562500"/>
          </a:xfrm>
          <a:prstGeom prst="rect">
            <a:avLst/>
          </a:prstGeom>
          <a:noFill/>
          <a:ln>
            <a:noFill/>
          </a:ln>
          <a:effectLst>
            <a:outerShdw blurRad="63943" rotWithShape="0" algn="bl" dir="5400000" dist="21314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5"/>
              <a:buFont typeface="Calibri"/>
              <a:buNone/>
            </a:pPr>
            <a:r>
              <a:rPr b="0" i="0" lang="en-US" sz="1455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Validar mediante desarrollo guiado por pruebas e integración continua, y documentar la solución.</a:t>
            </a:r>
            <a:endParaRPr b="0" i="0" sz="14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Delimitado de forma explícita para que el cumplimiento sea verificable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77240" y="1463040"/>
            <a:ext cx="5166360" cy="4206240"/>
          </a:xfrm>
          <a:prstGeom prst="roundRect">
            <a:avLst>
              <a:gd fmla="val 1739" name="adj"/>
            </a:avLst>
          </a:prstGeom>
          <a:solidFill>
            <a:srgbClr val="F2F8F0"/>
          </a:solidFill>
          <a:ln cap="flat" cmpd="sng" w="127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1005840" y="16276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E7C36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1005840" y="2057400"/>
            <a:ext cx="47548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Seis pantallas del módulo, con sus estados de carga, error y vacío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Trece servicios REST bajo una ruta base común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Lógica de cuota diaria escalonada y economía de recompensas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Flujo de recorrección: envío y seguimiento de estado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Modelo de datos del módulo y caché local sin conexión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Integración del manejo de sesión y renovación de credenciales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Pruebas unitarias y de integración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Contenedores y despliegue reproducible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17920" y="1463040"/>
            <a:ext cx="5166360" cy="4206240"/>
          </a:xfrm>
          <a:prstGeom prst="roundRect">
            <a:avLst>
              <a:gd fmla="val 1739" name="adj"/>
            </a:avLst>
          </a:prstGeom>
          <a:solidFill>
            <a:srgbClr val="FDF3EC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6446520" y="16276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5A1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25A16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6446520" y="2057400"/>
            <a:ext cx="47548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Registro, autenticación e incorporación inicial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Medallas y canjes, regalos y beneficios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Grupos, comunidad y tutores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Muro de pago, suscripción, ajustes y notificaciones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Consola de administración y generador de preguntas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Sitio web del alumno y sitio de aterrizaje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Pasarela de pago y notificaciones push: se consumen, no se intervienen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Generación y curaduría del banco de preguntas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025" y="166527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218028" y="2839472"/>
            <a:ext cx="996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218028" y="3360680"/>
            <a:ext cx="996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Cliente móvil, servicios REST y base de datos documental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1788411278730_image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5775" y="301300"/>
            <a:ext cx="6730275" cy="630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Un solo código para iOS y Android, decisivo para un equipo de tres con plazo acotado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77240" y="1463040"/>
            <a:ext cx="3291840" cy="4114800"/>
          </a:xfrm>
          <a:prstGeom prst="roundRect">
            <a:avLst>
              <a:gd fmla="val 2222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4" name="Google Shape;164;p8"/>
          <p:cNvSpPr/>
          <p:nvPr/>
        </p:nvSpPr>
        <p:spPr>
          <a:xfrm>
            <a:off x="1005840" y="1709928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5" name="Google Shape;165;p8"/>
          <p:cNvSpPr txBox="1"/>
          <p:nvPr/>
        </p:nvSpPr>
        <p:spPr>
          <a:xfrm>
            <a:off x="1280160" y="162763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Cliente móvil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033272" y="2148840"/>
            <a:ext cx="2834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Flutter 3.22 y Dart 3.3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Riverpod para gestión de estado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GoRouter para navegación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Dio con interceptor de tokens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Drift sobre SQLite para caché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Almacenamiento seguro de credenciales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389120" y="1463040"/>
            <a:ext cx="3291840" cy="4114800"/>
          </a:xfrm>
          <a:prstGeom prst="roundRect">
            <a:avLst>
              <a:gd fmla="val 2222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8" name="Google Shape;168;p8"/>
          <p:cNvSpPr/>
          <p:nvPr/>
        </p:nvSpPr>
        <p:spPr>
          <a:xfrm>
            <a:off x="4617720" y="1709928"/>
            <a:ext cx="164592" cy="16459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9" name="Google Shape;169;p8"/>
          <p:cNvSpPr txBox="1"/>
          <p:nvPr/>
        </p:nvSpPr>
        <p:spPr>
          <a:xfrm>
            <a:off x="4892040" y="162763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4645152" y="2148840"/>
            <a:ext cx="2834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Node.js con Express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Firebase Admin SDK sobre Firestore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Emulador local para desarrollo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Autenticación por token con rotación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Estructura de respuesta uniforme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Catálogo de errores estable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8001000" y="1463040"/>
            <a:ext cx="3291840" cy="4114800"/>
          </a:xfrm>
          <a:prstGeom prst="roundRect">
            <a:avLst>
              <a:gd fmla="val 2222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2" name="Google Shape;172;p8"/>
          <p:cNvSpPr/>
          <p:nvPr/>
        </p:nvSpPr>
        <p:spPr>
          <a:xfrm>
            <a:off x="8229600" y="1709928"/>
            <a:ext cx="164592" cy="16459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3" name="Google Shape;173;p8"/>
          <p:cNvSpPr txBox="1"/>
          <p:nvPr/>
        </p:nvSpPr>
        <p:spPr>
          <a:xfrm>
            <a:off x="8503920" y="1627632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8257032" y="2148840"/>
            <a:ext cx="2834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Docker y archivo de composición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Generador de código de persistencia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Analizador estático y pruebas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Git y GitHub con revisión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Trello para el tablero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Verificadores sin necesidad del SDK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Metodología: las alternativas que evaluamos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9"/>
          <p:cNvGraphicFramePr/>
          <p:nvPr/>
        </p:nvGraphicFramePr>
        <p:xfrm>
          <a:off x="77724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{50908FB9-4A4F-4C6D-B925-18C860E2C750}</a:tableStyleId>
              </a:tblPr>
              <a:tblGrid>
                <a:gridCol w="2194550"/>
                <a:gridCol w="3017525"/>
                <a:gridCol w="2697475"/>
                <a:gridCol w="2697475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 (Extreme Programming)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Kanban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Naturaleza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Metodología de desarrollo de software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Marco de gestión del trabajo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Método de gestión del flujo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Prácticas de ingeniería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 prescribe: pares, pruebas antes del código, integración continua, refactorización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prescribe ninguna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prescribe ninguna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Cadencia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Iteraciones cortas de duración fija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Sprints de una a cuatro semanas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Flujo continuo, sin cadencia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del cliente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en sitio, permanente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 con autoridad sobre el backlog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figura definida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Limitación en nuestro contexto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Exige cliente en sitio, que no tenemos. Se declara y se mitiga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rol de Product Owner quedaría vacío: Karina no participa del trabajo diario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cadencia, y la asignatura evalúa en fechas fijas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Adecuación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7C3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4E7C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Media-baja</a:t>
                      </a:r>
                      <a:endParaRPr sz="15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9"/>
          <p:cNvSpPr txBox="1"/>
          <p:nvPr/>
        </p:nvSpPr>
        <p:spPr>
          <a:xfrm>
            <a:off x="777203" y="6172815"/>
            <a:ext cx="10607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Por qué Extreme Programming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El problema del equipo no era de organización, era técnico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777240" y="1481328"/>
            <a:ext cx="5852160" cy="749808"/>
          </a:xfrm>
          <a:prstGeom prst="roundRect">
            <a:avLst>
              <a:gd fmla="val 8537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5" name="Google Shape;195;p10"/>
          <p:cNvSpPr txBox="1"/>
          <p:nvPr/>
        </p:nvSpPr>
        <p:spPr>
          <a:xfrm>
            <a:off x="96012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Ninguno había escrito Dart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960120" y="1810512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Programación en pares y pruebas antes del código dan una red de seguridad que un marco de gestión por sí solo no ofrece.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777240" y="2350008"/>
            <a:ext cx="5852160" cy="749808"/>
          </a:xfrm>
          <a:prstGeom prst="roundRect">
            <a:avLst>
              <a:gd fmla="val 8537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8" name="Google Shape;198;p10"/>
          <p:cNvSpPr txBox="1"/>
          <p:nvPr/>
        </p:nvSpPr>
        <p:spPr>
          <a:xfrm>
            <a:off x="960120" y="24048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La coordinación cabe en un tablero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960120" y="2679192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Tres personas de la misma sección con horario común no necesitan el aparato de ceremonias de Scrum.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77240" y="3218688"/>
            <a:ext cx="5852160" cy="749808"/>
          </a:xfrm>
          <a:prstGeom prst="roundRect">
            <a:avLst>
              <a:gd fmla="val 8537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1" name="Google Shape;201;p10"/>
          <p:cNvSpPr txBox="1"/>
          <p:nvPr/>
        </p:nvSpPr>
        <p:spPr>
          <a:xfrm>
            <a:off x="960120" y="32735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El rol central de Scrum quedaba vacío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960120" y="3547872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Karina es la contraparte, pero no participa del trabajo diario. Declarar un marco con su pieza principal hueca es peor que no declararlo.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77240" y="4087368"/>
            <a:ext cx="5852160" cy="749808"/>
          </a:xfrm>
          <a:prstGeom prst="roundRect">
            <a:avLst>
              <a:gd fmla="val 8537" name="adj"/>
            </a:avLst>
          </a:prstGeom>
          <a:solidFill>
            <a:srgbClr val="F7F9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4" name="Google Shape;204;p10"/>
          <p:cNvSpPr txBox="1"/>
          <p:nvPr/>
        </p:nvSpPr>
        <p:spPr>
          <a:xfrm>
            <a:off x="960120" y="4142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Kanban no impone cadencia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960120" y="4416552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 asignatura evalúa avance en fechas determinadas: necesitamos iteraciones de duración fija.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949440" y="1481328"/>
            <a:ext cx="4434840" cy="3310128"/>
          </a:xfrm>
          <a:prstGeom prst="roundRect">
            <a:avLst>
              <a:gd fmla="val 2210" name="adj"/>
            </a:avLst>
          </a:prstGeom>
          <a:solidFill>
            <a:srgbClr val="FDF3EC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07" name="Google Shape;207;p10"/>
          <p:cNvSpPr txBox="1"/>
          <p:nvPr/>
        </p:nvSpPr>
        <p:spPr>
          <a:xfrm>
            <a:off x="7178040" y="16459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5A16"/>
              </a:buClr>
              <a:buSzPts val="1450"/>
              <a:buFont typeface="Calibri"/>
              <a:buNone/>
            </a:pPr>
            <a:r>
              <a:rPr b="1" i="0" lang="en-US" sz="1500" u="none" cap="none" strike="noStrike">
                <a:solidFill>
                  <a:srgbClr val="B25A16"/>
                </a:solidFill>
                <a:latin typeface="Calibri"/>
                <a:ea typeface="Calibri"/>
                <a:cs typeface="Calibri"/>
                <a:sym typeface="Calibri"/>
              </a:rPr>
              <a:t>La práctica que no podemos cumplir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7178040" y="2011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XP exige cliente en sitio y no lo tenemos. Lo declaramos en lugar de sostener que aplicamos XP completo.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7178040" y="2651760"/>
            <a:ext cx="40233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1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Martin asume el rol de cliente para las decisiones diarias, interpretando la especificación documentada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Cada decisión sin confirmación queda en la bitácora de supuestos con su fuente e impacto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Las entregas funcionales se validan con la contraparte, aunque de forma espaciada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792453" y="5669270"/>
            <a:ext cx="10607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Doce prácticas adoptadas: pares, pruebas antes del código, integración continua, refactorización, diseño simple, propiedad colectiva, estándares, entregas pequeñas, ritmo sostenible, reunión de pie, juego de planificación y metáfora.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Estructura de desglose del trabajo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43 paquetes de trabajo, con responsable, entregable verificable e iteración asignada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_edt.png"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50" y="1371600"/>
            <a:ext cx="10058402" cy="523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 txBox="1"/>
          <p:nvPr/>
        </p:nvSpPr>
        <p:spPr>
          <a:xfrm>
            <a:off x="777240" y="54864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227" name="Google Shape;2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Diez iteraciones semanales agrupadas en tres entregas funcionales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777240" y="1463040"/>
            <a:ext cx="3291840" cy="2148840"/>
          </a:xfrm>
          <a:prstGeom prst="roundRect">
            <a:avLst>
              <a:gd fmla="val 3404" name="adj"/>
            </a:avLst>
          </a:prstGeom>
          <a:solidFill>
            <a:srgbClr val="F7F9FC"/>
          </a:solidFill>
          <a:ln cap="flat" cmpd="sng" w="1587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2" name="Google Shape;232;p12"/>
          <p:cNvSpPr txBox="1"/>
          <p:nvPr/>
        </p:nvSpPr>
        <p:spPr>
          <a:xfrm>
            <a:off x="1005840" y="162763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700"/>
              <a:buFont typeface="Calibri"/>
              <a:buNone/>
            </a:pPr>
            <a:r>
              <a:rPr b="1" i="0" lang="en-US" sz="15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Entrega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005840" y="19751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1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Iteraciones 1 a 3 · semanas 5 a 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1005840" y="2304288"/>
            <a:ext cx="2834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Entorno operativo, modelo de datos y la primera pantalla funcionando de punta a punta.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389120" y="1463040"/>
            <a:ext cx="3291840" cy="2148840"/>
          </a:xfrm>
          <a:prstGeom prst="roundRect">
            <a:avLst>
              <a:gd fmla="val 3404" name="adj"/>
            </a:avLst>
          </a:prstGeom>
          <a:solidFill>
            <a:srgbClr val="F7F9FC"/>
          </a:solidFill>
          <a:ln cap="flat" cmpd="sng" w="15875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6" name="Google Shape;236;p12"/>
          <p:cNvSpPr txBox="1"/>
          <p:nvPr/>
        </p:nvSpPr>
        <p:spPr>
          <a:xfrm>
            <a:off x="4617720" y="162763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700"/>
              <a:buFont typeface="Calibri"/>
              <a:buNone/>
            </a:pPr>
            <a:r>
              <a:rPr b="1" i="0" lang="en-US" sz="150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4617720" y="19751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1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Iteraciones 4 a 6 · semanas 8 a 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4617720" y="2304288"/>
            <a:ext cx="2834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ciclo completo de aprendizaje: respuesta, resultado, explicación y habilidad. Coincide con el Informe de Avance.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8001000" y="1463040"/>
            <a:ext cx="3291840" cy="2148840"/>
          </a:xfrm>
          <a:prstGeom prst="roundRect">
            <a:avLst>
              <a:gd fmla="val 3404" name="adj"/>
            </a:avLst>
          </a:prstGeom>
          <a:solidFill>
            <a:srgbClr val="F7F9FC"/>
          </a:solidFill>
          <a:ln cap="flat" cmpd="sng" w="15875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0" name="Google Shape;240;p12"/>
          <p:cNvSpPr txBox="1"/>
          <p:nvPr/>
        </p:nvSpPr>
        <p:spPr>
          <a:xfrm>
            <a:off x="8229600" y="162763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700"/>
              <a:buFont typeface="Calibri"/>
              <a:buNone/>
            </a:pPr>
            <a:r>
              <a:rPr b="1" i="0" lang="en-US" sz="15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Entrega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8229600" y="19751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b="1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Iteraciones 7 a 10 · semanas 11 a 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8229600" y="2304288"/>
            <a:ext cx="2834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Cuota diaria, recorrección, funcionamiento sin conexión, pruebas de integración y contenedores.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777240" y="3886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Roles del equipo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" name="Google Shape;244;p12"/>
          <p:cNvGraphicFramePr/>
          <p:nvPr/>
        </p:nvGraphicFramePr>
        <p:xfrm>
          <a:off x="777240" y="4251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{50908FB9-4A4F-4C6D-B925-18C860E2C750}</a:tableStyleId>
              </a:tblPr>
              <a:tblGrid>
                <a:gridCol w="2926075"/>
                <a:gridCol w="2011675"/>
                <a:gridCol w="56692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en XP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Foco de trabajo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Espinoza Morales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Coach y Tracker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Guía las prácticas, mide la velocidad, coordina con Alloxentric y con la profesora guía, y ejerce como cliente delegado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Jeremías Fernández Millacura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Programador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Servicios de backend y modelo de datos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Sebastián Acevedo Araya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Programador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móvil y capa de presentación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Carta Gantt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566928" y="868680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Dieciocho semanas, del 10 de agosto al 12 de diciembre de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_gantt.png" id="254" name="Google Shape;2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1800" y="1216150"/>
            <a:ext cx="7737573" cy="477732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 txBox="1"/>
          <p:nvPr/>
        </p:nvSpPr>
        <p:spPr>
          <a:xfrm>
            <a:off x="685790" y="6190470"/>
            <a:ext cx="10607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Hitos: documentación S4 · exposición S5 · informe de avance S10 · informe final S15 · comisión S17 · empresas vinculadas S18.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261" name="Google Shape;2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301752"/>
            <a:ext cx="9601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 txBox="1"/>
          <p:nvPr/>
        </p:nvSpPr>
        <p:spPr>
          <a:xfrm>
            <a:off x="566928" y="347472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Factibilidad y riesgos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29284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66915" y="1112450"/>
            <a:ext cx="5166300" cy="2148900"/>
          </a:xfrm>
          <a:prstGeom prst="roundRect">
            <a:avLst>
              <a:gd fmla="val 3404" name="adj"/>
            </a:avLst>
          </a:prstGeom>
          <a:solidFill>
            <a:srgbClr val="F2F8F0"/>
          </a:solidFill>
          <a:ln cap="flat" cmpd="sng" w="12700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5" name="Google Shape;265;p14"/>
          <p:cNvSpPr txBox="1"/>
          <p:nvPr/>
        </p:nvSpPr>
        <p:spPr>
          <a:xfrm>
            <a:off x="795515" y="1258754"/>
            <a:ext cx="457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E7C36"/>
                </a:solidFill>
                <a:latin typeface="Calibri"/>
                <a:ea typeface="Calibri"/>
                <a:cs typeface="Calibri"/>
                <a:sym typeface="Calibri"/>
              </a:rPr>
              <a:t>Lo que juega a favor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795515" y="1615370"/>
            <a:ext cx="4755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1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especificación ya existe: contrato, modelo de datos y wireframe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Backend de referencia operativo sobre el cual trabajar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Alcance acotado con criterios de aceptación explícitos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Sin inversión monetaria: todo opera en niveles gratuitos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007595" y="1112450"/>
            <a:ext cx="5166300" cy="2148900"/>
          </a:xfrm>
          <a:prstGeom prst="roundRect">
            <a:avLst>
              <a:gd fmla="val 3404" name="adj"/>
            </a:avLst>
          </a:prstGeom>
          <a:solidFill>
            <a:srgbClr val="FDF3EC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8" name="Google Shape;268;p14"/>
          <p:cNvSpPr txBox="1"/>
          <p:nvPr/>
        </p:nvSpPr>
        <p:spPr>
          <a:xfrm>
            <a:off x="6236195" y="1258754"/>
            <a:ext cx="457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5A1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25A16"/>
                </a:solidFill>
                <a:latin typeface="Calibri"/>
                <a:ea typeface="Calibri"/>
                <a:cs typeface="Calibri"/>
                <a:sym typeface="Calibri"/>
              </a:rPr>
              <a:t>Lo que hay que administrar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6236195" y="1615370"/>
            <a:ext cx="4755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1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Ninguno dominaba Dart ni Flutter al empezar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contraparte no participa del trabajo diario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Dependencia entre pantallas y servicios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5125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Seis iteraciones seguidas entre las semanas 7 y 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566915" y="3444170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Cómo los abordamos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14"/>
          <p:cNvGraphicFramePr/>
          <p:nvPr/>
        </p:nvGraphicFramePr>
        <p:xfrm>
          <a:off x="566915" y="3809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{50908FB9-4A4F-4C6D-B925-18C860E2C750}</a:tableStyleId>
              </a:tblPr>
              <a:tblGrid>
                <a:gridCol w="3657600"/>
                <a:gridCol w="69494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Curva de aprendizaje del stack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Iteración 1 completa dedicada a habilitación del entorno y comprensión de la arquitectura, y trabajo en pares durante las tres primeras iteraciones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Definiciones pendientes de la contraparte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Bitácora de supuestos: se registra el supuesto con su fuente y su impacto, y se avanza sobre él en lugar de detener la iteración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Acoplamiento entre cliente y servicios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Contratos fijados con pruebas en la iteración 2 e integración diaria a la rama principal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Concentración de carga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Ritmo sostenible y alcance de cada iteración cerrado en el juego de planificación, sin incorporaciones a mitad de camino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7" name="Google Shape;277;g3fa691bef0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fa691bef0a_0_0"/>
          <p:cNvSpPr txBox="1"/>
          <p:nvPr/>
        </p:nvSpPr>
        <p:spPr>
          <a:xfrm>
            <a:off x="1" y="99289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a691bef0a_0_0"/>
          <p:cNvSpPr txBox="1"/>
          <p:nvPr/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PROYECTO "MÓDULO DE PREGUNTAS / APP MÓVIL APRUEBA"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a691bef0a_0_0"/>
          <p:cNvSpPr txBox="1"/>
          <p:nvPr/>
        </p:nvSpPr>
        <p:spPr>
          <a:xfrm>
            <a:off x="1262853" y="2274926"/>
            <a:ext cx="9666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alcance está cerrado y es verificable. Seis pantallas y trece servicios, descompuestos en 43 paquetes con criterios de aceptación explícitos y asignados a iteraciones concretas. El avance se mide, no se estima.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situación real y no simulada. Existe una empresa, un producto que sale al mercado y un contrato de servicios que el equipo no puede modificar. Esa restricción es lo que acerca el trabajo a las condiciones profesionales.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metodología responde a un diagnóstico. El problema del equipo no era de organización sino técnico, y Extreme Programming prescribe las prácticas de ingeniería que ese problema exige.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riesgo está identificado y administrado. La curva de aprendizaje se concentra en la primera iteración y la bitácora de supuestos permite avanzar cuando falta definición de la contraparte.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integra cuatro competencias del perfil de egreso, por sobre las tres que exige el criterio de los proyectos APT.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9i/image1.jpeg" id="286" name="Google Shape;2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4648" y="1463040"/>
            <a:ext cx="1828800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 txBox="1"/>
          <p:nvPr/>
        </p:nvSpPr>
        <p:spPr>
          <a:xfrm>
            <a:off x="914400" y="2514600"/>
            <a:ext cx="103601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5"/>
          <p:cNvCxnSpPr/>
          <p:nvPr/>
        </p:nvCxnSpPr>
        <p:spPr>
          <a:xfrm>
            <a:off x="4937760" y="3429000"/>
            <a:ext cx="2313432" cy="0"/>
          </a:xfrm>
          <a:prstGeom prst="straightConnector1">
            <a:avLst/>
          </a:prstGeom>
          <a:noFill/>
          <a:ln cap="flat" cmpd="sng" w="3175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5"/>
          <p:cNvSpPr txBox="1"/>
          <p:nvPr/>
        </p:nvSpPr>
        <p:spPr>
          <a:xfrm>
            <a:off x="914400" y="36118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Módulo de Preguntas </a:t>
            </a:r>
            <a:r>
              <a:rPr lang="en-US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App móvil Aprueba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914400" y="40233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Grupo 9 · CAPSTONE_002D · Duoc UC Sede San Bernardo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2026-09-08T03:18:08Z</dcterms:created>
  <dc:creator>Grupo 9 — CAPSTONE_002D</dc:creator>
</cp:coreProperties>
</file>